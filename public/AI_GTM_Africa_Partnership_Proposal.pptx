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Set high prestige immediately. The angle is not asking for charity or standard sponsorship — it is positioning the fintech partner directly inside an unfolding, high-momentum Pan-African founder story across 6 major tech hubs.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difference between passive ad banner placement and active product integration. Founders remember seeing a product solve a real problem on the road.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tour is already funded and confirmed (flights, accommodations, bus tickets, 70+ registered in Kigali). The sponsor is joining a moving train.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Fintech trust is built on visible utility. When founders watch someone navigate multi-currency borders without friction, adoption objections disappear.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dual distribution engines: physical event room exclusivity vs. viral digital distribution via YouTube, Reels, and LinkedIn.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Tomide as an operator who knows GTM, revenue, and product marketing — not a generic influencer who just poses for pictures.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proof of community mobilization. Show that Tomide fills rooms with high-calibre professionals and founders.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Youth and builder mobilization. High engagement, young tech-savvy demographic that fintechs want to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ability to lead marketing for 2,000-person mega-gatherings.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negotiation slide. Sponsors hate writing blank cheques for "marketing fees". Instead, they cover real tangible travel/tour line-items and receive outsized media value in return.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three flexible tiers: Single City Partner, Regional East Africa Partner, or Lead Full Tour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Breakdown of Plan 1 (City Partner). Note that for Kigali, international flights and accommodations are already locked in by Tomide.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deliverables included in Plan 1 across Brand, Product, Content, and Community.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prospect through what a live Kigali vlog looks like from airport arrival to stage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2 covers the entire East Africa corridor: Kigali -&gt; Kampala -&gt; Nairobi. High relevance for fintechs licensed in Kenya, Uganda, and Rwanda.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 exclusivity in East Africa, 3 dedicated product videos, 6 shorts, and dual event floor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narrative power of cross-border commerce: showing a user converting RWF to UGX to KES seamlessly without bank delays.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flagship sponsorship tier: Lead Partner status across all 6 cities, full tour category exclusivity, and headline credit.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complete suite of deliverables for the Lead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High-value sweetener: Tomide delivers a private masterclass for the partner's internal marketing/sales team on AI customer acquisition.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evergreen nature of the content. These videos and case studies will continue generating signups for months after the tour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out the concrete conversion funnel from impressions to active app users and B2B demos.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and reporting: what data the partner receives in their post-activation dossier.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step: The sponsor selects their preferred tier, targets, and expenses. Fast contract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closing summary. Remind them that Kigali is already in motion for October 8th, so slots must be finalized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closing slide. Direct contact details and partnership lockup.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PROPOSAL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PITCH DECK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TOUR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 Your Fintech in an </a:t>
            </a:r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DF2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African Story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multi-city journey demonstrating cross-border payments, travel utility, and founder leverage across Africa’s fastest-growing tech ecosystems.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38912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2A080D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389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Kigali • 08 Oct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438912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111114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4389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Kampala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438912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111114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4389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Nairobi • 07 Nov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438912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111114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4389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Lagos • 28 Nov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438912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111114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4389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Cotonou • 19 Dec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46920" y="438912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111114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4389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Accra • 29 Dec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Tomide Williams • Founding GTM Lead &amp; AI Practitioner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• THE CORE CONCEPT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THESIS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Logo Placement: </a:t>
            </a:r>
            <a:pPr indent="0" marL="0">
              <a:buNone/>
            </a:pPr>
            <a:r>
              <a:rPr lang="en-US" sz="2400" b="1" dirty="0">
                <a:solidFill>
                  <a:srgbClr val="DF2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Product Proof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connects high-impact physical workshops with an organic, documented travel story across 6 African markets.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01 • IN THE ROOM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Builder Workshops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10896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Intensive 6-hour physical workshops in each city helping founders, growth leads, and business operators deploy AI across: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Marketing Systems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Sales Pipelines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Acquisition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GTM Execution &amp; Operations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02 • ON THE ROAD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Documented African Journey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310896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continuous travel and lifestyle narrative showing how your fintech product powers real movement, meals, cross-border transfers, and business transactions in real time: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High-production YouTube Vlogs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Viral Shorts and Instagram Reels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Executive LinkedIn breakdowns &amp; stories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• TOUR TIMELINE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Journey. </a:t>
            </a:r>
            <a:pPr indent="0" marL="0">
              <a:buNone/>
            </a:pPr>
            <a:r>
              <a:rPr lang="en-US" sz="2400" b="1" dirty="0">
                <a:solidFill>
                  <a:srgbClr val="DF2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African Tech Capitals.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tour is already in motion with international flights and venue logistics confirmed. Target: 100 vetted founders per city.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1A080C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Kigali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Oct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448056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7A0A15"/>
          </a:solidFill>
          <a:ln w="12700">
            <a:solidFill>
              <a:srgbClr val="DF26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80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 Registered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07792" y="228600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1A080C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07792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Kampala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07792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Leg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90672" y="448056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7A0A15"/>
          </a:solidFill>
          <a:ln w="12700">
            <a:solidFill>
              <a:srgbClr val="DF26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90672" y="4480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Confirmed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84064" y="228600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0C0C0E"/>
          </a:solidFill>
          <a:ln w="19050">
            <a:solidFill>
              <a:srgbClr val="252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84064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84064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Nairobi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84064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Nov 2026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66944" y="448056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1A1A20"/>
          </a:solidFill>
          <a:ln w="12700">
            <a:solidFill>
              <a:srgbClr val="3333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66944" y="4480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Registrations Open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60336" y="228600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0C0C0E"/>
          </a:solidFill>
          <a:ln w="19050">
            <a:solidFill>
              <a:srgbClr val="2525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0336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60336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Lagos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60336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Nov 2026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43216" y="448056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1A1A20"/>
          </a:solidFill>
          <a:ln w="12700">
            <a:solidFill>
              <a:srgbClr val="3333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43216" y="4480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Africa Hub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436608" y="228600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0C0C0E"/>
          </a:solidFill>
          <a:ln w="19050">
            <a:solidFill>
              <a:srgbClr val="2525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36608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436608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Accra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436608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Dec 2026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619488" y="448056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1A1A20"/>
          </a:solidFill>
          <a:ln w="12700">
            <a:solidFill>
              <a:srgbClr val="3333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19488" y="4480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Finale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" y="5394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East Africa Core: Kigali (Flight/Stay Confirmed) → Kampala (Bus Confirmed) → Nairobi (07 Nov)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West Africa Core: Lagos (28 Nov) → Cotonou (19 Dec) → Accra (29 Dec)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• VALUE PROPOSITION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UTILITY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People See Your Product </a:t>
            </a:r>
            <a:pPr indent="0" marL="0">
              <a:buNone/>
            </a:pPr>
            <a:r>
              <a:rPr lang="en-US" sz="2400" b="1" dirty="0">
                <a:solidFill>
                  <a:srgbClr val="DF2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In Real Life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adoption requires proof. Instead of synthetic ads, show your solution powering real cross-border commerce and travel.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317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Multi-Currency Conversion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FX switching between RWF, UGX, KES, NGN, XOF, and GHS on the move.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21945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3317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Cross-Border Transport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2926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for airport rides, interstate coaches, and city cabs friction-free.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0" y="21945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3317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38160" y="2560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Hospitality &amp; Dining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38160" y="2926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Covering hotel reservations and local restaurant dining via virtual/physical cards.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40690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2062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4434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&amp; Vendor Transfers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800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instant settlements with local African suppliers, facilitators, and partners.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40690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2062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26280" y="4434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Expense Tracking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6280" y="4800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multi-country tour operations in one clear digital dashboard.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55280" y="40690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0" y="42062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★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8160" y="4434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Integration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38160" y="4800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product becomes the hero enabler of the journey, not an annoying pop-up.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• DISTRIBUTION CHANNELS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IMPACT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High-Impact </a:t>
            </a:r>
            <a:pPr indent="0" marL="0">
              <a:buNone/>
            </a:pPr>
            <a:r>
              <a:rPr lang="en-US" sz="2400" b="1" dirty="0">
                <a:solidFill>
                  <a:srgbClr val="DF2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Visibility Engines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partnership touchpoint is designed to maximize both high-touch physical engagement and wide digital reach.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A • IN-PERSON EXPERIENCES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Event-Floor Immersion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20040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Official Partner banner &amp; pull-up display on stage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interactive product walkthrough during workshop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Branded attendee perks, referral QR codes &amp; perks desk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Co-branded flyers, lanyards, and event materials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executive introductions to high-value founders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B • DIGITAL MULTIPLIER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 Content Pipeline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320040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High-production YouTube travel &amp; business vlogs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Viral Shorts and Instagram Reels featuring live app use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Executive LinkedIn breakdowns distributed to 47k+ network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WhatsApp founder broadcast announcements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High-resolution photography repository for partner reuse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• OPERATOR CREDIBILITY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PROFILE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Founder-Led GTM, </a:t>
            </a:r>
            <a:pPr indent="0" marL="0">
              <a:buNone/>
            </a:pPr>
            <a:r>
              <a:rPr lang="en-US" sz="2400" b="1" dirty="0">
                <a:solidFill>
                  <a:srgbClr val="DF2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Influencer Fluff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by a proven product marketer, two-time TEDx speaker, and AI practitioner with direct access to African builders.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F2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47K+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Community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(Founders &amp; Operators)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56432" y="21945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23774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39312" y="32004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WhatsApp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&amp; Groups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21945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23774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$1M+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64224" y="32004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Generated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Products &amp; Clients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06256" y="21945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89136" y="23774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F2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60×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089136" y="32004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Generated for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Growth Campaigns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480560"/>
            <a:ext cx="10725912" cy="1371600"/>
          </a:xfrm>
          <a:prstGeom prst="roundRect">
            <a:avLst>
              <a:gd name="adj" fmla="val 6667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GTM EXECUTION TRACK RECORD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4937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Acquired 200+ paying B2B customers for EdTech product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Scaled new venture product to its first 1,000 active users in 90 days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2x TEDx Speaker &amp; Convener of major professional gatherings across Nigeria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• TRACK RECORD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 Local Jos — 500 Attendees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Convener &amp; Lead Organizer. High-density gathering of corporate leaders and tech builders.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 Attendees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Full-capacity auditorium gathering corporate and startup leadership.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Venue Fill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Over-subscribed registration pipeline with seamless on-ground experience.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0144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Multi-Brand Sponsorship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38744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integrated enterprise and emerging corporate partners.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• TRACK RECORD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JPI Youth Assembly — 500 Attendees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Convener &amp; Keynote Facilitator. Mobilizing ambitious youth leaders, creators, and digital entrepreneurs.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Adopter Tech Base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of remote freelancers, builders, and creators needing FX tools.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80%+ Retention Loop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0175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attendees into long-term active WhatsApp and digital community members.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• TRACK RECORD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LLN 25 — 2,000 Attendees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Team Lead, Marketing. Spearheaded digital acquisition, community outreach, and on-ground activations.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 Delegates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stadium/auditorium execution with seamless registration flows.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Architecture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acquisition funnel across paid media, PR, and community outreach.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0144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 ROI Delivery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38744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measurable deliverables and massive brand recall for corporate partners.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of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• PARTNERSHIP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Tangible Line-Items, Not Arbitrary Fees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company covers specific, pre-agreed operational expenses of the tour and receives guaranteed assets.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COMPANY COVERS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Airport pick-up, drop-off &amp; city transit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Cross-border interstate coach travel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Hotel / accommodation in tour cities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Featured restaurant dining experiences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Dedicated content videography crew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COMPANY RECEIVES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Physical room branding &amp; live demo time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Native app usage embedded in viral vlogs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Dedicated YouTube &amp; LinkedIn co-branded assets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Consented attendee lead database &amp; B2B intros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Post-event performance &amp; analytics dossier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of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• SPONSORSHIP TIERS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the Part of the Journey You Want to Power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package is tailored to match your target geographic markets, user acquisition KPIs, and budget.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01 • City Partner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one specific city (e.g. Kigali, Nairobi, or Lagos) and activate your product directly inside that market.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02 • East Africa Partner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complete Kigali → Kampala → Nairobi cross-border corridor as official regional fintech partner.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0144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03 • Full Tour Partner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38744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partner across all 6 African cities with category exclusivity and private team AI masterclass.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of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• PLAN 1 BREAKDOWN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1: City Partner Scope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one tour city and support at least 3 agreed operational activities within that market.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Kigali Logistics Status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 flight and standard stay already locked in. Partner selects local transit, dining, or videography.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Advantage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0175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deep ground penetration in your priority market without the overhead of organizing a foreign event from scratch.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of 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• DELIVERABLES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City Partner Receives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deliverables across brand visibility, live product activation, media, and community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2542032" cy="3657600"/>
          </a:xfrm>
          <a:prstGeom prst="roundRect">
            <a:avLst>
              <a:gd name="adj" fmla="val 359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• Brand Visibility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21762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City Partner status, logo on flyers, pull-up banner at venue, vlog mentions.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56432" y="2194560"/>
            <a:ext cx="2542032" cy="3657600"/>
          </a:xfrm>
          <a:prstGeom prst="roundRect">
            <a:avLst>
              <a:gd name="adj" fmla="val 359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237744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• Product Activation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9312" y="3017520"/>
            <a:ext cx="21762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on-stage demo, native app use in vlogs, branded QR code &amp; attendee perk.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2194560"/>
            <a:ext cx="2542032" cy="3657600"/>
          </a:xfrm>
          <a:prstGeom prst="roundRect">
            <a:avLst>
              <a:gd name="adj" fmla="val 359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237744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• Media &amp; Content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64224" y="3017520"/>
            <a:ext cx="21762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dedicated product video, 2+ Shorts/Reels, LinkedIn partnership post, photo pack.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06256" y="2194560"/>
            <a:ext cx="2542032" cy="3657600"/>
          </a:xfrm>
          <a:prstGeom prst="roundRect">
            <a:avLst>
              <a:gd name="adj" fmla="val 3597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89136" y="237744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• Data &amp; Leads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89136" y="3017520"/>
            <a:ext cx="21762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Consented attendee lead database, founder intros, post-event analytics dossier.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 of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• NARRATIVE BLUEPRINT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Kigali Story Arc: “How I Moved &amp; Paid with [Your Fintech]”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cohesive storyline showing seamless real-world utility at every step of Tomide’s visit.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01 • Arrival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at Kigali International Airport, paying for local transport &amp; hotel check-in via partner card.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02 • Workshop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Presenting to 70+ builders at Norrsken Kigali, showing how AI businesses automate cross-border collections.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0144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03 • Ecosystem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38744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a dinner with top Rwandan tech founders, splitting the bill and paying in local currency.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 of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• REGIONAL PACKAGE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2: East Africa Regional Partner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the complete multi-country corridor across Rwanda, Uganda, and Kenya.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Corridor Coverage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Kigali, Kampala &amp; Nairobi. Support selected transit and stay expenses across all 3 countries.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Commitment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0175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the return flight from Nairobi or accommodation in Kenya to secure full regional category exclusivity.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 of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• REGIONAL DELIVERABLES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 Africa Partner Benefits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City Partner plan plus regional exclusivity, 3 vlogs, 6 shorts, and dual-city lead access.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Exclusivity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Sole fintech sponsor across Kigali, Kampala, and Nairobi tour marketing.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Dedicated Media Series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high-production vlogs + 6 short-form assets exploring cross-border money transfer.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0144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City Founder Leads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38744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Consented attendee databases from both Kigali and Nairobi workshops (200+ vetted founders).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 of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• REGIONAL STORY ARC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Financial Product Across Three Countries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real cross-border resilience as Tomide travels across East Africa.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Border Transit Moments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Exchanging currency at the Rwanda-Uganda border, paying merchants in Kampala via app.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 Founder Pain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0175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African founders struggle with cross-border payments. Seeing an operator solve it live builds instant trust.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17 of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• FLAGSHIP PACKAGE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3: Lead Full Tour Partner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the complete 6-city Pan-African tour: Kigali, Kampala, Nairobi, Lagos, Cotonou, and Accra.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Commitment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Tomide’s Accra finale flight &amp; stay, plus selected regional transit across the 6 ecosystems.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Positioning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0175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“AI GTM Africa in Partnership with [Your Company]” top-tier billing on all marketing, stage, and press.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18 of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• FULL TOUR DELIVERABLES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Tour Partner Deliverables Matrix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Pan-African title exclusivity, 5+ episodic vlogs, 12+ shorts, and the complete 500+ founder lead database.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Pan-African Exclusivity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category exclusivity across all 6 cities. No competing financial brands permitted.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Docuseries Media Engine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dedicated YouTube vlogs + 12+ shorts distributed to 47k+ LinkedIn and 10k+ WhatsApp.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0144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Tour Lead Vault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38744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Consented database of 500+ top African founders, CEOs, and growth leaders across East &amp; West Africa.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19 of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• EXCLUSIVE BONUS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Executive Masterclass: AI &amp; GTM Systems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value-add for Lead Tour Partner: A dedicated live masterclass for your growth, marketing, and sales team.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Masterclass Topic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to Use AI &amp; GTM Systems to Scale Users &amp; B2B Revenue” tailored to your Q4 2026 expansion roadmap.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Modules Covered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0175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AI-powered lead qualification &amp; outbound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High-converting GTM positioning for B2B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Community distribution &amp; referral loops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20 of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• EVERGREEN MEDIA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That Continues Delivering Long After Events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piece of tour content is designed for long-term discovery, reuse, and paid ad amplification.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2542032" cy="3657600"/>
          </a:xfrm>
          <a:prstGeom prst="roundRect">
            <a:avLst>
              <a:gd name="adj" fmla="val 359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 Travel Vlogs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21762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High-production YouTube travel and ecosystem docuseries.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56432" y="2194560"/>
            <a:ext cx="2542032" cy="3657600"/>
          </a:xfrm>
          <a:prstGeom prst="roundRect">
            <a:avLst>
              <a:gd name="adj" fmla="val 359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237744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Short-Form Reels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9312" y="3017520"/>
            <a:ext cx="21762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Bite-sized tactical app use clips on IG &amp; YouTube Shorts.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2194560"/>
            <a:ext cx="2542032" cy="3657600"/>
          </a:xfrm>
          <a:prstGeom prst="roundRect">
            <a:avLst>
              <a:gd name="adj" fmla="val 359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237744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Posts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64224" y="3017520"/>
            <a:ext cx="21762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leadership breakdowns on LinkedIn (47k+ reach).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06256" y="2194560"/>
            <a:ext cx="2542032" cy="3657600"/>
          </a:xfrm>
          <a:prstGeom prst="roundRect">
            <a:avLst>
              <a:gd name="adj" fmla="val 3597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89136" y="237744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 Reuse Rights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89136" y="3017520"/>
            <a:ext cx="21762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rights for your team to run paid ads using tour assets.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21 of 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• CONVERSION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Brand Impressions to Active Product Adoption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friction-free conversion triggers built directly into both physical workshops and digital media.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2542032" cy="3657600"/>
          </a:xfrm>
          <a:prstGeom prst="roundRect">
            <a:avLst>
              <a:gd name="adj" fmla="val 359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Branded QR Codes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21762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stage slides &amp; attendee tables for instant mobile app downloads.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56432" y="2194560"/>
            <a:ext cx="2542032" cy="3657600"/>
          </a:xfrm>
          <a:prstGeom prst="roundRect">
            <a:avLst>
              <a:gd name="adj" fmla="val 359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237744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Exclusive Attendee Perks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9312" y="3017520"/>
            <a:ext cx="21762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fee discounts or welcome balances for verified attendees.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2194560"/>
            <a:ext cx="2542032" cy="3657600"/>
          </a:xfrm>
          <a:prstGeom prst="roundRect">
            <a:avLst>
              <a:gd name="adj" fmla="val 359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237744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Founder Intros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64224" y="3017520"/>
            <a:ext cx="21762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warm introductions to high-volume cross-border businesses.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06256" y="2194560"/>
            <a:ext cx="2542032" cy="3657600"/>
          </a:xfrm>
          <a:prstGeom prst="roundRect">
            <a:avLst>
              <a:gd name="adj" fmla="val 3597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89136" y="237744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Consented Lead Vault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89136" y="3017520"/>
            <a:ext cx="21762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attendee database for post-event sales follow-up.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22 of 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• ACCOUNTABILITY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 Post-Activation Dossier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transparency on media performance, audience engagement, and lead attribution.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Metrics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 views, watch hours &amp; retention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LinkedIn post impressions &amp; shares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QR code scans &amp; referral link clicks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Verified workshop attendance numbers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468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Insights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01752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On-ground user feedback &amp; objection notes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High-resolution photo asset repository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Strategic African market recommendations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23 of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• 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Streamlined Onboarding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 the exact parameters that align with your growth objectives in 3 easy steps: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01: Select Tier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City Partner, East Africa Partner, or Lead Full Tour Partner based on priorities.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02: Pick Expenses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specific transit, stay, or production items your company will cover.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0144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03: Define CTA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38744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your referral link, custom perk, or QR code destination for workshop attendees.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24 of 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• STRATEGIC CHOICE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Part of the Journey Will You Power?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tour begins October 8 in Kigali. Category exclusivity is strictly first-come, first-served.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A: One City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penetration and direct lead capture in one target African capital.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160609"/>
          </a:solidFill>
          <a:ln w="19050">
            <a:solidFill>
              <a:srgbClr val="7A0A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B: East Africa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dominance across Kigali, Kampala &amp; Nairobi.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0144" y="219456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0C0C0E"/>
          </a:solidFill>
          <a:ln w="12700">
            <a:solidFill>
              <a:srgbClr val="252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24688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C: Full African Tour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38744" y="310896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Pan-African title sponsorship across all 6 tech ecosystems.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25 of 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A080B"/>
          </a:solidFill>
          <a:ln w="12700">
            <a:solidFill>
              <a:srgbClr val="7A0A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F2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• CLOSING LOCKUP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GTM Africa × [Your Fintech]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Kigali • Kampala • Nairobi • Lagos • Cotonou • Accra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2377440"/>
            <a:ext cx="7616952" cy="3200400"/>
          </a:xfrm>
          <a:prstGeom prst="roundRect">
            <a:avLst>
              <a:gd name="adj" fmla="val 4286"/>
            </a:avLst>
          </a:prstGeom>
          <a:solidFill>
            <a:srgbClr val="160609"/>
          </a:solidFill>
          <a:ln w="25400">
            <a:solidFill>
              <a:srgbClr val="7A0A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Tomide Williams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51760" y="32004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GTM Lead &amp; AI Practitioner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374904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hello@tomidewilliams.com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+234 902 563 1654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www.aigtmafrica.xyz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6217920"/>
            <a:ext cx="10725912" cy="0"/>
          </a:xfrm>
          <a:prstGeom prst="line">
            <a:avLst/>
          </a:prstGeom>
          <a:noFill/>
          <a:ln w="12700">
            <a:solidFill>
              <a:srgbClr val="2222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GTM Africa Proposal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26 of 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AI GTM Africa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GTM Africa Partnership Proposal — Put Your Fintech in an African Story</dc:title>
  <dc:subject>PptxGenJS Presentation</dc:subject>
  <dc:creator>Tomide Williams</dc:creator>
  <cp:lastModifiedBy>Tomide Williams</cp:lastModifiedBy>
  <cp:revision>1</cp:revision>
  <dcterms:created xsi:type="dcterms:W3CDTF">2026-09-21T06:16:36Z</dcterms:created>
  <dcterms:modified xsi:type="dcterms:W3CDTF">2026-09-21T06:16:36Z</dcterms:modified>
</cp:coreProperties>
</file>